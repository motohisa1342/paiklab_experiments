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daffef314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daffef314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e70205f9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e70205f9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b06dec30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b06dec30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b4e4ef377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b4e4ef377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e70205f90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e70205f90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db06dec302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db06dec302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db06dec302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db06dec302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db4e4ef377_7_0)">
  <p:cSld name="Generated (g3db4e4ef377_7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4.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5.png"/><Relationship Id="rId7" Type="http://schemas.openxmlformats.org/officeDocument/2006/relationships/image" Target="../media/image5.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ja" sz="3600">
                <a:solidFill>
                  <a:srgbClr val="222222"/>
                </a:solidFill>
                <a:latin typeface="Courier New"/>
                <a:ea typeface="Courier New"/>
                <a:cs typeface="Courier New"/>
                <a:sym typeface="Courier New"/>
              </a:rPr>
              <a:t>Large Language Models: An Overview</a:t>
            </a:r>
            <a:endParaRPr b="1" sz="3600">
              <a:solidFill>
                <a:srgbClr val="222222"/>
              </a:solidFill>
              <a:latin typeface="Courier New"/>
              <a:ea typeface="Courier New"/>
              <a:cs typeface="Courier New"/>
              <a:sym typeface="Courier New"/>
            </a:endParaRPr>
          </a:p>
          <a:p>
            <a:pPr indent="0" lvl="0" marL="0" rtl="0" algn="ctr">
              <a:spcBef>
                <a:spcPts val="0"/>
              </a:spcBef>
              <a:spcAft>
                <a:spcPts val="0"/>
              </a:spcAft>
              <a:buNone/>
            </a:pPr>
            <a:r>
              <a:rPr b="1" lang="ja" sz="3600">
                <a:solidFill>
                  <a:srgbClr val="222222"/>
                </a:solidFill>
                <a:latin typeface="Courier New"/>
                <a:ea typeface="Courier New"/>
                <a:cs typeface="Courier New"/>
                <a:sym typeface="Courier New"/>
              </a:rPr>
              <a:t>~What is LLM ?~ </a:t>
            </a:r>
            <a:endParaRPr b="1" sz="3600">
              <a:solidFill>
                <a:srgbClr val="222222"/>
              </a:solidFill>
              <a:latin typeface="Courier New"/>
              <a:ea typeface="Courier New"/>
              <a:cs typeface="Courier New"/>
              <a:sym typeface="Courier New"/>
            </a:endParaRPr>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ja" sz="1600">
                <a:solidFill>
                  <a:srgbClr val="000000"/>
                </a:solidFill>
                <a:latin typeface="Courier New"/>
                <a:ea typeface="Courier New"/>
                <a:cs typeface="Courier New"/>
                <a:sym typeface="Courier New"/>
              </a:rPr>
              <a:t>2026/5/8 </a:t>
            </a:r>
            <a:r>
              <a:rPr lang="ja" sz="1600">
                <a:solidFill>
                  <a:srgbClr val="000000"/>
                </a:solidFill>
                <a:latin typeface="Courier New"/>
                <a:ea typeface="Courier New"/>
                <a:cs typeface="Courier New"/>
                <a:sym typeface="Courier New"/>
              </a:rPr>
              <a:t>Motohisa Yamano s1320112</a:t>
            </a:r>
            <a:endParaRPr sz="1600">
              <a:solidFill>
                <a:srgbClr val="000000"/>
              </a:solidFill>
              <a:latin typeface="Courier New"/>
              <a:ea typeface="Courier New"/>
              <a:cs typeface="Courier New"/>
              <a:sym typeface="Courier New"/>
            </a:endParaRPr>
          </a:p>
        </p:txBody>
      </p:sp>
      <p:sp>
        <p:nvSpPr>
          <p:cNvPr id="57" name="Google Shape;57;p14"/>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8" name="Google Shape;58;p14"/>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62" name="Shape 62"/>
        <p:cNvGrpSpPr/>
        <p:nvPr/>
      </p:nvGrpSpPr>
      <p:grpSpPr>
        <a:xfrm>
          <a:off x="0" y="0"/>
          <a:ext cx="0" cy="0"/>
          <a:chOff x="0" y="0"/>
          <a:chExt cx="0" cy="0"/>
        </a:xfrm>
      </p:grpSpPr>
      <p:sp>
        <p:nvSpPr>
          <p:cNvPr id="63" name="Google Shape;63;p15"/>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5"/>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22"/>
              </a:solidFill>
            </a:endParaRPr>
          </a:p>
        </p:txBody>
      </p:sp>
      <p:sp>
        <p:nvSpPr>
          <p:cNvPr id="65" name="Google Shape;65;p15"/>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66" name="Google Shape;66;p15"/>
          <p:cNvSpPr txBox="1"/>
          <p:nvPr/>
        </p:nvSpPr>
        <p:spPr>
          <a:xfrm>
            <a:off x="0" y="260400"/>
            <a:ext cx="637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ja" sz="3000">
                <a:solidFill>
                  <a:srgbClr val="222222"/>
                </a:solidFill>
                <a:latin typeface="Courier New"/>
                <a:ea typeface="Courier New"/>
                <a:cs typeface="Courier New"/>
                <a:sym typeface="Courier New"/>
              </a:rPr>
              <a:t>D</a:t>
            </a:r>
            <a:r>
              <a:rPr b="1" i="1" lang="ja" sz="3000">
                <a:solidFill>
                  <a:srgbClr val="222222"/>
                </a:solidFill>
                <a:latin typeface="Courier New"/>
                <a:ea typeface="Courier New"/>
                <a:cs typeface="Courier New"/>
                <a:sym typeface="Courier New"/>
              </a:rPr>
              <a:t>efinition</a:t>
            </a:r>
            <a:r>
              <a:rPr b="1" i="1" lang="ja" sz="3000">
                <a:solidFill>
                  <a:srgbClr val="222222"/>
                </a:solidFill>
                <a:latin typeface="Courier New"/>
                <a:ea typeface="Courier New"/>
                <a:cs typeface="Courier New"/>
                <a:sym typeface="Courier New"/>
              </a:rPr>
              <a:t> of LLMs</a:t>
            </a:r>
            <a:endParaRPr b="1" i="1" sz="3000">
              <a:solidFill>
                <a:srgbClr val="222222"/>
              </a:solidFill>
              <a:latin typeface="Courier New"/>
              <a:ea typeface="Courier New"/>
              <a:cs typeface="Courier New"/>
              <a:sym typeface="Courier New"/>
            </a:endParaRPr>
          </a:p>
        </p:txBody>
      </p:sp>
      <p:pic>
        <p:nvPicPr>
          <p:cNvPr id="67" name="Google Shape;67;p15"/>
          <p:cNvPicPr preferRelativeResize="0"/>
          <p:nvPr/>
        </p:nvPicPr>
        <p:blipFill>
          <a:blip r:embed="rId3">
            <a:alphaModFix/>
          </a:blip>
          <a:stretch>
            <a:fillRect/>
          </a:stretch>
        </p:blipFill>
        <p:spPr>
          <a:xfrm>
            <a:off x="7319577" y="2096503"/>
            <a:ext cx="920825" cy="881858"/>
          </a:xfrm>
          <a:prstGeom prst="rect">
            <a:avLst/>
          </a:prstGeom>
          <a:noFill/>
          <a:ln>
            <a:noFill/>
          </a:ln>
        </p:spPr>
      </p:pic>
      <p:pic>
        <p:nvPicPr>
          <p:cNvPr id="68" name="Google Shape;68;p15"/>
          <p:cNvPicPr preferRelativeResize="0"/>
          <p:nvPr/>
        </p:nvPicPr>
        <p:blipFill>
          <a:blip r:embed="rId4">
            <a:alphaModFix/>
          </a:blip>
          <a:stretch>
            <a:fillRect/>
          </a:stretch>
        </p:blipFill>
        <p:spPr>
          <a:xfrm>
            <a:off x="7320938" y="689813"/>
            <a:ext cx="920825" cy="748526"/>
          </a:xfrm>
          <a:prstGeom prst="rect">
            <a:avLst/>
          </a:prstGeom>
          <a:noFill/>
          <a:ln>
            <a:noFill/>
          </a:ln>
        </p:spPr>
      </p:pic>
      <p:sp>
        <p:nvSpPr>
          <p:cNvPr id="69" name="Google Shape;69;p15"/>
          <p:cNvSpPr txBox="1"/>
          <p:nvPr/>
        </p:nvSpPr>
        <p:spPr>
          <a:xfrm>
            <a:off x="7125550" y="3630800"/>
            <a:ext cx="1311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sz="2400">
                <a:solidFill>
                  <a:schemeClr val="dk1"/>
                </a:solidFill>
                <a:latin typeface="Courier New"/>
                <a:ea typeface="Courier New"/>
                <a:cs typeface="Courier New"/>
                <a:sym typeface="Courier New"/>
              </a:rPr>
              <a:t>Answer</a:t>
            </a:r>
            <a:endParaRPr b="1" sz="2400">
              <a:solidFill>
                <a:schemeClr val="dk1"/>
              </a:solidFill>
              <a:latin typeface="Courier New"/>
              <a:ea typeface="Courier New"/>
              <a:cs typeface="Courier New"/>
              <a:sym typeface="Courier New"/>
            </a:endParaRPr>
          </a:p>
        </p:txBody>
      </p:sp>
      <p:sp>
        <p:nvSpPr>
          <p:cNvPr id="70" name="Google Shape;70;p15"/>
          <p:cNvSpPr txBox="1"/>
          <p:nvPr/>
        </p:nvSpPr>
        <p:spPr>
          <a:xfrm>
            <a:off x="574950" y="1294200"/>
            <a:ext cx="60108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800">
                <a:latin typeface="Courier New"/>
                <a:ea typeface="Courier New"/>
                <a:cs typeface="Courier New"/>
                <a:sym typeface="Courier New"/>
              </a:rPr>
              <a:t>LLM stands for </a:t>
            </a:r>
            <a:r>
              <a:rPr b="1" lang="ja" sz="1800">
                <a:latin typeface="Courier New"/>
                <a:ea typeface="Courier New"/>
                <a:cs typeface="Courier New"/>
                <a:sym typeface="Courier New"/>
              </a:rPr>
              <a:t>Large Language Model</a:t>
            </a:r>
            <a:r>
              <a:rPr lang="ja" sz="1800">
                <a:latin typeface="Courier New"/>
                <a:ea typeface="Courier New"/>
                <a:cs typeface="Courier New"/>
                <a:sym typeface="Courier New"/>
              </a:rPr>
              <a:t>. </a:t>
            </a:r>
            <a:endParaRPr sz="1800">
              <a:latin typeface="Courier New"/>
              <a:ea typeface="Courier New"/>
              <a:cs typeface="Courier New"/>
              <a:sym typeface="Courier New"/>
            </a:endParaRPr>
          </a:p>
          <a:p>
            <a:pPr indent="0" lvl="0" marL="0" rtl="0" algn="l">
              <a:spcBef>
                <a:spcPts val="300"/>
              </a:spcBef>
              <a:spcAft>
                <a:spcPts val="0"/>
              </a:spcAft>
              <a:buNone/>
            </a:pPr>
            <a:r>
              <a:t/>
            </a:r>
            <a:endParaRPr sz="1800">
              <a:latin typeface="Courier New"/>
              <a:ea typeface="Courier New"/>
              <a:cs typeface="Courier New"/>
              <a:sym typeface="Courier New"/>
            </a:endParaRPr>
          </a:p>
          <a:p>
            <a:pPr indent="0" lvl="0" marL="0" rtl="0" algn="l">
              <a:spcBef>
                <a:spcPts val="300"/>
              </a:spcBef>
              <a:spcAft>
                <a:spcPts val="0"/>
              </a:spcAft>
              <a:buNone/>
            </a:pPr>
            <a:r>
              <a:rPr lang="ja" sz="1800">
                <a:latin typeface="Courier New"/>
                <a:ea typeface="Courier New"/>
                <a:cs typeface="Courier New"/>
                <a:sym typeface="Courier New"/>
              </a:rPr>
              <a:t>It is an AI that statistically predicts subsequent tokens based on a prompt using neural-network weights.</a:t>
            </a:r>
            <a:endParaRPr sz="1800">
              <a:latin typeface="Courier New"/>
              <a:ea typeface="Courier New"/>
              <a:cs typeface="Courier New"/>
              <a:sym typeface="Courier New"/>
            </a:endParaRPr>
          </a:p>
          <a:p>
            <a:pPr indent="0" lvl="0" marL="0" rtl="0" algn="l">
              <a:spcBef>
                <a:spcPts val="300"/>
              </a:spcBef>
              <a:spcAft>
                <a:spcPts val="0"/>
              </a:spcAft>
              <a:buClr>
                <a:schemeClr val="dk1"/>
              </a:buClr>
              <a:buSzPts val="1100"/>
              <a:buFont typeface="Arial"/>
              <a:buNone/>
            </a:pPr>
            <a:r>
              <a:t/>
            </a:r>
            <a:endParaRPr sz="1800">
              <a:latin typeface="Courier New"/>
              <a:ea typeface="Courier New"/>
              <a:cs typeface="Courier New"/>
              <a:sym typeface="Courier New"/>
            </a:endParaRPr>
          </a:p>
          <a:p>
            <a:pPr indent="0" lvl="0" marL="0" rtl="0" algn="l">
              <a:spcBef>
                <a:spcPts val="300"/>
              </a:spcBef>
              <a:spcAft>
                <a:spcPts val="300"/>
              </a:spcAft>
              <a:buClr>
                <a:schemeClr val="dk1"/>
              </a:buClr>
              <a:buSzPts val="1100"/>
              <a:buFont typeface="Arial"/>
              <a:buNone/>
            </a:pPr>
            <a:r>
              <a:rPr lang="ja" sz="1800">
                <a:latin typeface="Courier New"/>
                <a:ea typeface="Courier New"/>
                <a:cs typeface="Courier New"/>
                <a:sym typeface="Courier New"/>
              </a:rPr>
              <a:t>The "Large" refers to the massive number of parameters in the network structure.</a:t>
            </a:r>
            <a:endParaRPr sz="1800"/>
          </a:p>
        </p:txBody>
      </p:sp>
      <p:pic>
        <p:nvPicPr>
          <p:cNvPr id="71" name="Google Shape;71;p15"/>
          <p:cNvPicPr preferRelativeResize="0"/>
          <p:nvPr/>
        </p:nvPicPr>
        <p:blipFill>
          <a:blip r:embed="rId5">
            <a:alphaModFix/>
          </a:blip>
          <a:stretch>
            <a:fillRect/>
          </a:stretch>
        </p:blipFill>
        <p:spPr>
          <a:xfrm>
            <a:off x="8241755" y="1339628"/>
            <a:ext cx="378675" cy="1074572"/>
          </a:xfrm>
          <a:prstGeom prst="rect">
            <a:avLst/>
          </a:prstGeom>
          <a:noFill/>
          <a:ln>
            <a:noFill/>
          </a:ln>
        </p:spPr>
      </p:pic>
      <p:pic>
        <p:nvPicPr>
          <p:cNvPr id="72" name="Google Shape;72;p15"/>
          <p:cNvPicPr preferRelativeResize="0"/>
          <p:nvPr/>
        </p:nvPicPr>
        <p:blipFill>
          <a:blip r:embed="rId5">
            <a:alphaModFix/>
          </a:blip>
          <a:stretch>
            <a:fillRect/>
          </a:stretch>
        </p:blipFill>
        <p:spPr>
          <a:xfrm flipH="1">
            <a:off x="6844034" y="2571750"/>
            <a:ext cx="378675" cy="10745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76" name="Shape 76"/>
        <p:cNvGrpSpPr/>
        <p:nvPr/>
      </p:nvGrpSpPr>
      <p:grpSpPr>
        <a:xfrm>
          <a:off x="0" y="0"/>
          <a:ext cx="0" cy="0"/>
          <a:chOff x="0" y="0"/>
          <a:chExt cx="0" cy="0"/>
        </a:xfrm>
      </p:grpSpPr>
      <p:sp>
        <p:nvSpPr>
          <p:cNvPr id="77" name="Google Shape;77;p16"/>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6"/>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79" name="Google Shape;79;p16"/>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80" name="Google Shape;80;p16"/>
          <p:cNvSpPr txBox="1"/>
          <p:nvPr/>
        </p:nvSpPr>
        <p:spPr>
          <a:xfrm>
            <a:off x="0" y="260400"/>
            <a:ext cx="637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ja" sz="3000">
                <a:solidFill>
                  <a:srgbClr val="222222"/>
                </a:solidFill>
                <a:latin typeface="Courier New"/>
                <a:ea typeface="Courier New"/>
                <a:cs typeface="Courier New"/>
                <a:sym typeface="Courier New"/>
              </a:rPr>
              <a:t>Definition of LLMs</a:t>
            </a:r>
            <a:endParaRPr b="1" i="1" sz="3000">
              <a:solidFill>
                <a:srgbClr val="222222"/>
              </a:solidFill>
              <a:latin typeface="Courier New"/>
              <a:ea typeface="Courier New"/>
              <a:cs typeface="Courier New"/>
              <a:sym typeface="Courier New"/>
            </a:endParaRPr>
          </a:p>
        </p:txBody>
      </p:sp>
      <p:sp>
        <p:nvSpPr>
          <p:cNvPr id="81" name="Google Shape;81;p16"/>
          <p:cNvSpPr txBox="1"/>
          <p:nvPr/>
        </p:nvSpPr>
        <p:spPr>
          <a:xfrm>
            <a:off x="790350" y="982025"/>
            <a:ext cx="7563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 [1] explains that by increasing the number of parameters and training data, recent language models began to show abilities that smaller models did not clearly have. This scaling is one reason why LLMs can handle a wide range of tasks. </a:t>
            </a:r>
            <a:endParaRPr sz="1200">
              <a:latin typeface="Courier New"/>
              <a:ea typeface="Courier New"/>
              <a:cs typeface="Courier New"/>
              <a:sym typeface="Courier New"/>
            </a:endParaRPr>
          </a:p>
        </p:txBody>
      </p:sp>
      <p:pic>
        <p:nvPicPr>
          <p:cNvPr id="82" name="Google Shape;82;p16"/>
          <p:cNvPicPr preferRelativeResize="0"/>
          <p:nvPr/>
        </p:nvPicPr>
        <p:blipFill>
          <a:blip r:embed="rId3">
            <a:alphaModFix/>
          </a:blip>
          <a:stretch>
            <a:fillRect/>
          </a:stretch>
        </p:blipFill>
        <p:spPr>
          <a:xfrm>
            <a:off x="1162125" y="3325525"/>
            <a:ext cx="913650" cy="867975"/>
          </a:xfrm>
          <a:prstGeom prst="rect">
            <a:avLst/>
          </a:prstGeom>
          <a:noFill/>
          <a:ln>
            <a:noFill/>
          </a:ln>
        </p:spPr>
      </p:pic>
      <p:pic>
        <p:nvPicPr>
          <p:cNvPr id="83" name="Google Shape;83;p16"/>
          <p:cNvPicPr preferRelativeResize="0"/>
          <p:nvPr/>
        </p:nvPicPr>
        <p:blipFill>
          <a:blip r:embed="rId4">
            <a:alphaModFix/>
          </a:blip>
          <a:stretch>
            <a:fillRect/>
          </a:stretch>
        </p:blipFill>
        <p:spPr>
          <a:xfrm>
            <a:off x="3254502" y="3318590"/>
            <a:ext cx="920825" cy="881858"/>
          </a:xfrm>
          <a:prstGeom prst="rect">
            <a:avLst/>
          </a:prstGeom>
          <a:noFill/>
          <a:ln>
            <a:noFill/>
          </a:ln>
        </p:spPr>
      </p:pic>
      <p:pic>
        <p:nvPicPr>
          <p:cNvPr id="84" name="Google Shape;84;p16"/>
          <p:cNvPicPr preferRelativeResize="0"/>
          <p:nvPr/>
        </p:nvPicPr>
        <p:blipFill>
          <a:blip r:embed="rId5">
            <a:alphaModFix/>
          </a:blip>
          <a:stretch>
            <a:fillRect/>
          </a:stretch>
        </p:blipFill>
        <p:spPr>
          <a:xfrm rot="-5400000">
            <a:off x="2475805" y="2850178"/>
            <a:ext cx="378675" cy="1074572"/>
          </a:xfrm>
          <a:prstGeom prst="rect">
            <a:avLst/>
          </a:prstGeom>
          <a:noFill/>
          <a:ln>
            <a:noFill/>
          </a:ln>
        </p:spPr>
      </p:pic>
      <p:sp>
        <p:nvSpPr>
          <p:cNvPr id="85" name="Google Shape;85;p16"/>
          <p:cNvSpPr txBox="1"/>
          <p:nvPr/>
        </p:nvSpPr>
        <p:spPr>
          <a:xfrm>
            <a:off x="1000025" y="2828825"/>
            <a:ext cx="38553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Upscaling the number of parameters in NN</a:t>
            </a:r>
            <a:endParaRPr sz="1200">
              <a:latin typeface="Courier New"/>
              <a:ea typeface="Courier New"/>
              <a:cs typeface="Courier New"/>
              <a:sym typeface="Courier New"/>
            </a:endParaRPr>
          </a:p>
        </p:txBody>
      </p:sp>
      <p:sp>
        <p:nvSpPr>
          <p:cNvPr id="86" name="Google Shape;86;p16"/>
          <p:cNvSpPr txBox="1"/>
          <p:nvPr/>
        </p:nvSpPr>
        <p:spPr>
          <a:xfrm>
            <a:off x="56923" y="4193500"/>
            <a:ext cx="5467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ja" sz="1000">
                <a:latin typeface="Courier New"/>
                <a:ea typeface="Courier New"/>
                <a:cs typeface="Courier New"/>
                <a:sym typeface="Courier New"/>
              </a:rPr>
              <a:t>From simple prediction tasks to complex reasoning-like behavior </a:t>
            </a:r>
            <a:endParaRPr sz="1000">
              <a:latin typeface="Courier New"/>
              <a:ea typeface="Courier New"/>
              <a:cs typeface="Courier New"/>
              <a:sym typeface="Courier New"/>
            </a:endParaRPr>
          </a:p>
        </p:txBody>
      </p:sp>
      <p:sp>
        <p:nvSpPr>
          <p:cNvPr id="87" name="Google Shape;87;p16"/>
          <p:cNvSpPr txBox="1"/>
          <p:nvPr/>
        </p:nvSpPr>
        <p:spPr>
          <a:xfrm>
            <a:off x="790350" y="1905425"/>
            <a:ext cx="7563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　</a:t>
            </a:r>
            <a:r>
              <a:rPr lang="ja" sz="1200">
                <a:latin typeface="Courier New"/>
                <a:ea typeface="Courier New"/>
                <a:cs typeface="Courier New"/>
                <a:sym typeface="Courier New"/>
              </a:rPr>
              <a:t>The </a:t>
            </a:r>
            <a:r>
              <a:rPr lang="ja" sz="1200">
                <a:latin typeface="Courier New"/>
                <a:ea typeface="Courier New"/>
                <a:cs typeface="Courier New"/>
                <a:sym typeface="Courier New"/>
              </a:rPr>
              <a:t>experiments in [2] suggest that model performance, measured by cross-entropy loss, improves predictably as the number of parameters increases. In particular, the relationship between loss and model size approximately follows a power law. </a:t>
            </a:r>
            <a:endParaRPr sz="1200">
              <a:latin typeface="Courier New"/>
              <a:ea typeface="Courier New"/>
              <a:cs typeface="Courier New"/>
              <a:sym typeface="Courier New"/>
            </a:endParaRPr>
          </a:p>
        </p:txBody>
      </p:sp>
      <p:pic>
        <p:nvPicPr>
          <p:cNvPr id="88" name="Google Shape;88;p16"/>
          <p:cNvPicPr preferRelativeResize="0"/>
          <p:nvPr/>
        </p:nvPicPr>
        <p:blipFill>
          <a:blip r:embed="rId6">
            <a:alphaModFix/>
          </a:blip>
          <a:stretch>
            <a:fillRect/>
          </a:stretch>
        </p:blipFill>
        <p:spPr>
          <a:xfrm>
            <a:off x="6282725" y="2627049"/>
            <a:ext cx="2070925" cy="1870850"/>
          </a:xfrm>
          <a:prstGeom prst="rect">
            <a:avLst/>
          </a:prstGeom>
          <a:noFill/>
          <a:ln cap="flat" cmpd="sng" w="38100">
            <a:solidFill>
              <a:srgbClr val="222222"/>
            </a:solidFill>
            <a:prstDash val="solid"/>
            <a:round/>
            <a:headEnd len="sm" w="sm" type="none"/>
            <a:tailEnd len="sm" w="sm" type="none"/>
          </a:ln>
        </p:spPr>
      </p:pic>
      <p:sp>
        <p:nvSpPr>
          <p:cNvPr id="89" name="Google Shape;89;p16"/>
          <p:cNvSpPr txBox="1"/>
          <p:nvPr/>
        </p:nvSpPr>
        <p:spPr>
          <a:xfrm>
            <a:off x="5763885" y="4473850"/>
            <a:ext cx="3108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ja" sz="900">
                <a:solidFill>
                  <a:schemeClr val="dk1"/>
                </a:solidFill>
                <a:latin typeface="Courier New"/>
                <a:ea typeface="Courier New"/>
                <a:cs typeface="Courier New"/>
                <a:sym typeface="Courier New"/>
              </a:rPr>
              <a:t>Source: [2] </a:t>
            </a:r>
            <a:r>
              <a:rPr lang="ja" sz="900">
                <a:solidFill>
                  <a:schemeClr val="dk1"/>
                </a:solidFill>
                <a:latin typeface="Courier New"/>
                <a:ea typeface="Courier New"/>
                <a:cs typeface="Courier New"/>
                <a:sym typeface="Courier New"/>
              </a:rPr>
              <a:t>Scaling laws for neural language models</a:t>
            </a:r>
            <a:r>
              <a:rPr i="1" lang="ja" sz="900">
                <a:solidFill>
                  <a:schemeClr val="dk1"/>
                </a:solidFill>
                <a:latin typeface="Courier New"/>
                <a:ea typeface="Courier New"/>
                <a:cs typeface="Courier New"/>
                <a:sym typeface="Courier New"/>
              </a:rPr>
              <a:t> Figure1 Parameters(2020)</a:t>
            </a:r>
            <a:r>
              <a:rPr lang="ja" sz="900">
                <a:solidFill>
                  <a:schemeClr val="dk1"/>
                </a:solidFill>
                <a:latin typeface="Courier New"/>
                <a:ea typeface="Courier New"/>
                <a:cs typeface="Courier New"/>
                <a:sym typeface="Courier New"/>
              </a:rPr>
              <a:t> </a:t>
            </a:r>
            <a:endParaRPr sz="900">
              <a:solidFill>
                <a:schemeClr val="dk1"/>
              </a:solidFill>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93" name="Shape 93"/>
        <p:cNvGrpSpPr/>
        <p:nvPr/>
      </p:nvGrpSpPr>
      <p:grpSpPr>
        <a:xfrm>
          <a:off x="0" y="0"/>
          <a:ext cx="0" cy="0"/>
          <a:chOff x="0" y="0"/>
          <a:chExt cx="0" cy="0"/>
        </a:xfrm>
      </p:grpSpPr>
      <p:sp>
        <p:nvSpPr>
          <p:cNvPr id="94" name="Google Shape;94;p17"/>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7"/>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96" name="Google Shape;96;p17"/>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97" name="Google Shape;97;p17"/>
          <p:cNvSpPr txBox="1"/>
          <p:nvPr/>
        </p:nvSpPr>
        <p:spPr>
          <a:xfrm>
            <a:off x="0" y="260400"/>
            <a:ext cx="637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ja" sz="3000">
                <a:solidFill>
                  <a:srgbClr val="222222"/>
                </a:solidFill>
                <a:latin typeface="Courier New"/>
                <a:ea typeface="Courier New"/>
                <a:cs typeface="Courier New"/>
                <a:sym typeface="Courier New"/>
              </a:rPr>
              <a:t>Representative Models</a:t>
            </a:r>
            <a:endParaRPr b="1" i="1" sz="3000">
              <a:solidFill>
                <a:srgbClr val="222222"/>
              </a:solidFill>
              <a:latin typeface="Courier New"/>
              <a:ea typeface="Courier New"/>
              <a:cs typeface="Courier New"/>
              <a:sym typeface="Courier New"/>
            </a:endParaRPr>
          </a:p>
        </p:txBody>
      </p:sp>
      <p:sp>
        <p:nvSpPr>
          <p:cNvPr id="98" name="Google Shape;98;p17"/>
          <p:cNvSpPr/>
          <p:nvPr/>
        </p:nvSpPr>
        <p:spPr>
          <a:xfrm>
            <a:off x="296788" y="1152825"/>
            <a:ext cx="3960300" cy="24402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9" name="Google Shape;99;p17"/>
          <p:cNvPicPr preferRelativeResize="0"/>
          <p:nvPr/>
        </p:nvPicPr>
        <p:blipFill>
          <a:blip r:embed="rId3">
            <a:alphaModFix/>
          </a:blip>
          <a:stretch>
            <a:fillRect/>
          </a:stretch>
        </p:blipFill>
        <p:spPr>
          <a:xfrm>
            <a:off x="2012776" y="2754762"/>
            <a:ext cx="528350" cy="537125"/>
          </a:xfrm>
          <a:prstGeom prst="rect">
            <a:avLst/>
          </a:prstGeom>
          <a:noFill/>
          <a:ln>
            <a:noFill/>
          </a:ln>
        </p:spPr>
      </p:pic>
      <p:pic>
        <p:nvPicPr>
          <p:cNvPr id="100" name="Google Shape;100;p17"/>
          <p:cNvPicPr preferRelativeResize="0"/>
          <p:nvPr/>
        </p:nvPicPr>
        <p:blipFill>
          <a:blip r:embed="rId4">
            <a:alphaModFix/>
          </a:blip>
          <a:stretch>
            <a:fillRect/>
          </a:stretch>
        </p:blipFill>
        <p:spPr>
          <a:xfrm>
            <a:off x="890532" y="2759157"/>
            <a:ext cx="528351" cy="528351"/>
          </a:xfrm>
          <a:prstGeom prst="rect">
            <a:avLst/>
          </a:prstGeom>
          <a:noFill/>
          <a:ln>
            <a:noFill/>
          </a:ln>
        </p:spPr>
      </p:pic>
      <p:pic>
        <p:nvPicPr>
          <p:cNvPr id="101" name="Google Shape;101;p17"/>
          <p:cNvPicPr preferRelativeResize="0"/>
          <p:nvPr/>
        </p:nvPicPr>
        <p:blipFill>
          <a:blip r:embed="rId5">
            <a:alphaModFix/>
          </a:blip>
          <a:stretch>
            <a:fillRect/>
          </a:stretch>
        </p:blipFill>
        <p:spPr>
          <a:xfrm>
            <a:off x="3212137" y="2650875"/>
            <a:ext cx="744899" cy="744899"/>
          </a:xfrm>
          <a:prstGeom prst="rect">
            <a:avLst/>
          </a:prstGeom>
          <a:noFill/>
          <a:ln>
            <a:noFill/>
          </a:ln>
        </p:spPr>
      </p:pic>
      <p:sp>
        <p:nvSpPr>
          <p:cNvPr id="102" name="Google Shape;102;p17"/>
          <p:cNvSpPr/>
          <p:nvPr/>
        </p:nvSpPr>
        <p:spPr>
          <a:xfrm>
            <a:off x="4886913" y="1152825"/>
            <a:ext cx="3960300" cy="24402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7"/>
          <p:cNvSpPr txBox="1"/>
          <p:nvPr/>
        </p:nvSpPr>
        <p:spPr>
          <a:xfrm>
            <a:off x="683188" y="1152813"/>
            <a:ext cx="3187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latin typeface="Courier New"/>
                <a:ea typeface="Courier New"/>
                <a:cs typeface="Courier New"/>
                <a:sym typeface="Courier New"/>
              </a:rPr>
              <a:t>Closed / Commercial Services </a:t>
            </a:r>
            <a:endParaRPr b="1">
              <a:latin typeface="Courier New"/>
              <a:ea typeface="Courier New"/>
              <a:cs typeface="Courier New"/>
              <a:sym typeface="Courier New"/>
            </a:endParaRPr>
          </a:p>
        </p:txBody>
      </p:sp>
      <p:sp>
        <p:nvSpPr>
          <p:cNvPr id="104" name="Google Shape;104;p17"/>
          <p:cNvSpPr txBox="1"/>
          <p:nvPr/>
        </p:nvSpPr>
        <p:spPr>
          <a:xfrm>
            <a:off x="5052663" y="1152825"/>
            <a:ext cx="3628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a:latin typeface="Courier New"/>
                <a:ea typeface="Courier New"/>
                <a:cs typeface="Courier New"/>
                <a:sym typeface="Courier New"/>
              </a:rPr>
              <a:t>Open-weight / Open-source Models </a:t>
            </a:r>
            <a:endParaRPr b="1">
              <a:latin typeface="Courier New"/>
              <a:ea typeface="Courier New"/>
              <a:cs typeface="Courier New"/>
              <a:sym typeface="Courier New"/>
            </a:endParaRPr>
          </a:p>
        </p:txBody>
      </p:sp>
      <p:sp>
        <p:nvSpPr>
          <p:cNvPr id="105" name="Google Shape;105;p17"/>
          <p:cNvSpPr txBox="1"/>
          <p:nvPr/>
        </p:nvSpPr>
        <p:spPr>
          <a:xfrm>
            <a:off x="442588" y="1553025"/>
            <a:ext cx="3668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Example: GPTseries, Gemini series, Claude series</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ja" sz="1000">
                <a:latin typeface="Courier New"/>
                <a:ea typeface="Courier New"/>
                <a:cs typeface="Courier New"/>
                <a:sym typeface="Courier New"/>
              </a:rPr>
              <a:t>・Easy to use through web interfaces and APIs</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ja" sz="1000">
                <a:latin typeface="Courier New"/>
                <a:ea typeface="Courier New"/>
                <a:cs typeface="Courier New"/>
                <a:sym typeface="Courier New"/>
              </a:rPr>
              <a:t>・Model details and weights are generally not public</a:t>
            </a:r>
            <a:endParaRPr sz="1000">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ja" sz="1000">
                <a:latin typeface="Courier New"/>
                <a:ea typeface="Courier New"/>
                <a:cs typeface="Courier New"/>
                <a:sym typeface="Courier New"/>
              </a:rPr>
              <a:t>・Frequently updated by companies</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sp>
        <p:nvSpPr>
          <p:cNvPr id="106" name="Google Shape;106;p17"/>
          <p:cNvSpPr txBox="1"/>
          <p:nvPr/>
        </p:nvSpPr>
        <p:spPr>
          <a:xfrm>
            <a:off x="5032713" y="1553025"/>
            <a:ext cx="3668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Example: </a:t>
            </a:r>
            <a:r>
              <a:rPr lang="ja" sz="1000">
                <a:latin typeface="Courier New"/>
                <a:ea typeface="Courier New"/>
                <a:cs typeface="Courier New"/>
                <a:sym typeface="Courier New"/>
              </a:rPr>
              <a:t>Phi-3</a:t>
            </a:r>
            <a:r>
              <a:rPr lang="ja" sz="1000">
                <a:latin typeface="Courier New"/>
                <a:ea typeface="Courier New"/>
                <a:cs typeface="Courier New"/>
                <a:sym typeface="Courier New"/>
              </a:rPr>
              <a:t>, LLaMA 3.1, Qwen3</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ja" sz="1000">
                <a:latin typeface="Courier New"/>
                <a:ea typeface="Courier New"/>
                <a:cs typeface="Courier New"/>
                <a:sym typeface="Courier New"/>
              </a:rPr>
              <a:t>・</a:t>
            </a:r>
            <a:r>
              <a:rPr lang="ja" sz="1000">
                <a:latin typeface="Courier New"/>
                <a:ea typeface="Courier New"/>
                <a:cs typeface="Courier New"/>
                <a:sym typeface="Courier New"/>
              </a:rPr>
              <a:t>Model weights may be available for download </a:t>
            </a:r>
            <a:endParaRPr sz="1000">
              <a:latin typeface="Courier New"/>
              <a:ea typeface="Courier New"/>
              <a:cs typeface="Courier New"/>
              <a:sym typeface="Courier New"/>
            </a:endParaRPr>
          </a:p>
          <a:p>
            <a:pPr indent="0" lvl="0" marL="0" rtl="0" algn="l">
              <a:spcBef>
                <a:spcPts val="0"/>
              </a:spcBef>
              <a:spcAft>
                <a:spcPts val="0"/>
              </a:spcAft>
              <a:buNone/>
            </a:pPr>
            <a:r>
              <a:rPr lang="ja" sz="1000">
                <a:latin typeface="Courier New"/>
                <a:ea typeface="Courier New"/>
                <a:cs typeface="Courier New"/>
                <a:sym typeface="Courier New"/>
              </a:rPr>
              <a:t>・</a:t>
            </a:r>
            <a:r>
              <a:rPr lang="ja" sz="1000">
                <a:latin typeface="Courier New"/>
                <a:ea typeface="Courier New"/>
                <a:cs typeface="Courier New"/>
                <a:sym typeface="Courier New"/>
              </a:rPr>
              <a:t>Useful for research, fine-tuning, and local deployment </a:t>
            </a:r>
            <a:endParaRPr sz="1000">
              <a:latin typeface="Courier New"/>
              <a:ea typeface="Courier New"/>
              <a:cs typeface="Courier New"/>
              <a:sym typeface="Courier New"/>
            </a:endParaRPr>
          </a:p>
          <a:p>
            <a:pPr indent="0" lvl="0" marL="0" rtl="0" algn="l">
              <a:spcBef>
                <a:spcPts val="0"/>
              </a:spcBef>
              <a:spcAft>
                <a:spcPts val="0"/>
              </a:spcAft>
              <a:buNone/>
            </a:pPr>
            <a:r>
              <a:rPr lang="ja" sz="1000">
                <a:latin typeface="Courier New"/>
                <a:ea typeface="Courier New"/>
                <a:cs typeface="Courier New"/>
                <a:sym typeface="Courier New"/>
              </a:rPr>
              <a:t>・</a:t>
            </a:r>
            <a:r>
              <a:rPr lang="ja" sz="1000">
                <a:latin typeface="Courier New"/>
                <a:ea typeface="Courier New"/>
                <a:cs typeface="Courier New"/>
                <a:sym typeface="Courier New"/>
              </a:rPr>
              <a:t>License and openness differ by model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p:txBody>
      </p:sp>
      <p:pic>
        <p:nvPicPr>
          <p:cNvPr id="107" name="Google Shape;107;p17"/>
          <p:cNvPicPr preferRelativeResize="0"/>
          <p:nvPr/>
        </p:nvPicPr>
        <p:blipFill>
          <a:blip r:embed="rId6">
            <a:alphaModFix/>
          </a:blip>
          <a:stretch>
            <a:fillRect/>
          </a:stretch>
        </p:blipFill>
        <p:spPr>
          <a:xfrm>
            <a:off x="8008588" y="2650875"/>
            <a:ext cx="744900" cy="744900"/>
          </a:xfrm>
          <a:prstGeom prst="rect">
            <a:avLst/>
          </a:prstGeom>
          <a:solidFill>
            <a:srgbClr val="F7F7F5"/>
          </a:solidFill>
          <a:ln>
            <a:noFill/>
          </a:ln>
        </p:spPr>
      </p:pic>
      <p:pic>
        <p:nvPicPr>
          <p:cNvPr id="108" name="Google Shape;108;p17"/>
          <p:cNvPicPr preferRelativeResize="0"/>
          <p:nvPr/>
        </p:nvPicPr>
        <p:blipFill>
          <a:blip r:embed="rId7">
            <a:alphaModFix/>
          </a:blip>
          <a:stretch>
            <a:fillRect/>
          </a:stretch>
        </p:blipFill>
        <p:spPr>
          <a:xfrm>
            <a:off x="5192681" y="2803698"/>
            <a:ext cx="1337482" cy="528350"/>
          </a:xfrm>
          <a:prstGeom prst="rect">
            <a:avLst/>
          </a:prstGeom>
          <a:solidFill>
            <a:srgbClr val="F7F7F5"/>
          </a:solidFill>
          <a:ln>
            <a:noFill/>
          </a:ln>
        </p:spPr>
      </p:pic>
      <p:pic>
        <p:nvPicPr>
          <p:cNvPr id="109" name="Google Shape;109;p17"/>
          <p:cNvPicPr preferRelativeResize="0"/>
          <p:nvPr/>
        </p:nvPicPr>
        <p:blipFill>
          <a:blip r:embed="rId8">
            <a:alphaModFix/>
          </a:blip>
          <a:stretch>
            <a:fillRect/>
          </a:stretch>
        </p:blipFill>
        <p:spPr>
          <a:xfrm>
            <a:off x="6831292" y="2744625"/>
            <a:ext cx="1079570" cy="646500"/>
          </a:xfrm>
          <a:prstGeom prst="rect">
            <a:avLst/>
          </a:prstGeom>
          <a:solidFill>
            <a:srgbClr val="F7F7F5"/>
          </a:solidFill>
          <a:ln>
            <a:noFill/>
          </a:ln>
        </p:spPr>
      </p:pic>
      <p:sp>
        <p:nvSpPr>
          <p:cNvPr id="110" name="Google Shape;110;p17"/>
          <p:cNvSpPr txBox="1"/>
          <p:nvPr/>
        </p:nvSpPr>
        <p:spPr>
          <a:xfrm>
            <a:off x="6544900" y="1716375"/>
            <a:ext cx="2621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1" name="Google Shape;111;p17"/>
          <p:cNvSpPr txBox="1"/>
          <p:nvPr/>
        </p:nvSpPr>
        <p:spPr>
          <a:xfrm>
            <a:off x="1020450" y="3831625"/>
            <a:ext cx="7103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a:solidFill>
                  <a:schemeClr val="dk2"/>
                </a:solidFill>
                <a:latin typeface="Courier New"/>
                <a:ea typeface="Courier New"/>
                <a:cs typeface="Courier New"/>
                <a:sym typeface="Courier New"/>
              </a:rPr>
              <a:t> Currently, there is a large number of language models, spanning a wide range of use cases and fine-tuned variants. </a:t>
            </a:r>
            <a:endParaRPr>
              <a:solidFill>
                <a:schemeClr val="dk2"/>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15" name="Shape 115"/>
        <p:cNvGrpSpPr/>
        <p:nvPr/>
      </p:nvGrpSpPr>
      <p:grpSpPr>
        <a:xfrm>
          <a:off x="0" y="0"/>
          <a:ext cx="0" cy="0"/>
          <a:chOff x="0" y="0"/>
          <a:chExt cx="0" cy="0"/>
        </a:xfrm>
      </p:grpSpPr>
      <p:sp>
        <p:nvSpPr>
          <p:cNvPr id="116" name="Google Shape;116;p18"/>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7" name="Google Shape;117;p18"/>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118" name="Google Shape;118;p18"/>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119" name="Google Shape;119;p18"/>
          <p:cNvSpPr txBox="1"/>
          <p:nvPr/>
        </p:nvSpPr>
        <p:spPr>
          <a:xfrm>
            <a:off x="0" y="260400"/>
            <a:ext cx="711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i="1" lang="ja" sz="3000">
                <a:solidFill>
                  <a:srgbClr val="222222"/>
                </a:solidFill>
                <a:latin typeface="Courier New"/>
                <a:ea typeface="Courier New"/>
                <a:cs typeface="Courier New"/>
                <a:sym typeface="Courier New"/>
              </a:rPr>
              <a:t>Factors Behind Its Recent Rise </a:t>
            </a:r>
            <a:endParaRPr b="1" i="1" sz="3000">
              <a:solidFill>
                <a:srgbClr val="222222"/>
              </a:solidFill>
              <a:latin typeface="Courier New"/>
              <a:ea typeface="Courier New"/>
              <a:cs typeface="Courier New"/>
              <a:sym typeface="Courier New"/>
            </a:endParaRPr>
          </a:p>
        </p:txBody>
      </p:sp>
      <p:pic>
        <p:nvPicPr>
          <p:cNvPr id="120" name="Google Shape;120;p18" title="スクリーンショット 2026-05-03 150240.png"/>
          <p:cNvPicPr preferRelativeResize="0"/>
          <p:nvPr/>
        </p:nvPicPr>
        <p:blipFill>
          <a:blip r:embed="rId3">
            <a:alphaModFix/>
          </a:blip>
          <a:stretch>
            <a:fillRect/>
          </a:stretch>
        </p:blipFill>
        <p:spPr>
          <a:xfrm>
            <a:off x="5072676" y="1355207"/>
            <a:ext cx="3717926" cy="2387343"/>
          </a:xfrm>
          <a:prstGeom prst="rect">
            <a:avLst/>
          </a:prstGeom>
          <a:noFill/>
          <a:ln cap="flat" cmpd="sng" w="38100">
            <a:solidFill>
              <a:srgbClr val="222222"/>
            </a:solidFill>
            <a:prstDash val="solid"/>
            <a:round/>
            <a:headEnd len="sm" w="sm" type="none"/>
            <a:tailEnd len="sm" w="sm" type="none"/>
          </a:ln>
        </p:spPr>
      </p:pic>
      <p:sp>
        <p:nvSpPr>
          <p:cNvPr id="121" name="Google Shape;121;p18"/>
          <p:cNvSpPr txBox="1"/>
          <p:nvPr/>
        </p:nvSpPr>
        <p:spPr>
          <a:xfrm>
            <a:off x="402950" y="1648275"/>
            <a:ext cx="4567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 Since the development of GPT-3, the number of papers containing the keyword “large language model” increased exponentially.</a:t>
            </a:r>
            <a:endParaRPr sz="1200">
              <a:latin typeface="Courier New"/>
              <a:ea typeface="Courier New"/>
              <a:cs typeface="Courier New"/>
              <a:sym typeface="Courier New"/>
            </a:endParaRPr>
          </a:p>
        </p:txBody>
      </p:sp>
      <p:sp>
        <p:nvSpPr>
          <p:cNvPr id="122" name="Google Shape;122;p18"/>
          <p:cNvSpPr txBox="1"/>
          <p:nvPr/>
        </p:nvSpPr>
        <p:spPr>
          <a:xfrm>
            <a:off x="402950" y="2588850"/>
            <a:ext cx="4326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 A sharp increase occurs after the release of ChatGPT: the average number of published arXiv papers that contain “large language model” in title or abstract goes from 0.40 per day to 8.58 per day.</a:t>
            </a:r>
            <a:endParaRPr sz="1200">
              <a:latin typeface="Courier New"/>
              <a:ea typeface="Courier New"/>
              <a:cs typeface="Courier New"/>
              <a:sym typeface="Courier New"/>
            </a:endParaRPr>
          </a:p>
        </p:txBody>
      </p:sp>
      <p:sp>
        <p:nvSpPr>
          <p:cNvPr id="123" name="Google Shape;123;p18"/>
          <p:cNvSpPr txBox="1"/>
          <p:nvPr/>
        </p:nvSpPr>
        <p:spPr>
          <a:xfrm>
            <a:off x="4977738" y="3883275"/>
            <a:ext cx="3907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ja" sz="1000">
                <a:latin typeface="Courier New"/>
                <a:ea typeface="Courier New"/>
                <a:cs typeface="Courier New"/>
                <a:sym typeface="Courier New"/>
              </a:rPr>
              <a:t>Source: [1] </a:t>
            </a:r>
            <a:r>
              <a:rPr lang="ja" sz="1000">
                <a:latin typeface="Courier New"/>
                <a:ea typeface="Courier New"/>
                <a:cs typeface="Courier New"/>
                <a:sym typeface="Courier New"/>
              </a:rPr>
              <a:t>A survey of large language models (b)Query = “Large Language Model”</a:t>
            </a:r>
            <a:r>
              <a:rPr i="1" lang="ja" sz="1000">
                <a:latin typeface="Courier New"/>
                <a:ea typeface="Courier New"/>
                <a:cs typeface="Courier New"/>
                <a:sym typeface="Courier New"/>
              </a:rPr>
              <a:t> </a:t>
            </a:r>
            <a:r>
              <a:rPr i="1" lang="ja" sz="1000">
                <a:latin typeface="Courier New"/>
                <a:ea typeface="Courier New"/>
                <a:cs typeface="Courier New"/>
                <a:sym typeface="Courier New"/>
              </a:rPr>
              <a:t>(2026)</a:t>
            </a:r>
            <a:r>
              <a:rPr lang="ja" sz="1000">
                <a:latin typeface="Courier New"/>
                <a:ea typeface="Courier New"/>
                <a:cs typeface="Courier New"/>
                <a:sym typeface="Courier New"/>
              </a:rPr>
              <a:t> </a:t>
            </a:r>
            <a:endParaRPr sz="100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27" name="Shape 127"/>
        <p:cNvGrpSpPr/>
        <p:nvPr/>
      </p:nvGrpSpPr>
      <p:grpSpPr>
        <a:xfrm>
          <a:off x="0" y="0"/>
          <a:ext cx="0" cy="0"/>
          <a:chOff x="0" y="0"/>
          <a:chExt cx="0" cy="0"/>
        </a:xfrm>
      </p:grpSpPr>
      <p:sp>
        <p:nvSpPr>
          <p:cNvPr id="128" name="Google Shape;128;p19"/>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19"/>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130" name="Google Shape;130;p19"/>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131" name="Google Shape;131;p19"/>
          <p:cNvSpPr txBox="1"/>
          <p:nvPr/>
        </p:nvSpPr>
        <p:spPr>
          <a:xfrm>
            <a:off x="0" y="260400"/>
            <a:ext cx="7114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i="1" lang="ja" sz="3000">
                <a:solidFill>
                  <a:srgbClr val="222222"/>
                </a:solidFill>
                <a:latin typeface="Courier New"/>
                <a:ea typeface="Courier New"/>
                <a:cs typeface="Courier New"/>
                <a:sym typeface="Courier New"/>
              </a:rPr>
              <a:t>Factors Behind Its Recent Rise </a:t>
            </a:r>
            <a:endParaRPr b="1" i="1" sz="3000">
              <a:solidFill>
                <a:srgbClr val="222222"/>
              </a:solidFill>
              <a:latin typeface="Courier New"/>
              <a:ea typeface="Courier New"/>
              <a:cs typeface="Courier New"/>
              <a:sym typeface="Courier New"/>
            </a:endParaRPr>
          </a:p>
        </p:txBody>
      </p:sp>
      <p:sp>
        <p:nvSpPr>
          <p:cNvPr id="132" name="Google Shape;132;p19"/>
          <p:cNvSpPr/>
          <p:nvPr/>
        </p:nvSpPr>
        <p:spPr>
          <a:xfrm>
            <a:off x="383500" y="1008150"/>
            <a:ext cx="3960300" cy="15636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19"/>
          <p:cNvSpPr/>
          <p:nvPr/>
        </p:nvSpPr>
        <p:spPr>
          <a:xfrm>
            <a:off x="383500" y="2945625"/>
            <a:ext cx="3960300" cy="15636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19"/>
          <p:cNvSpPr/>
          <p:nvPr/>
        </p:nvSpPr>
        <p:spPr>
          <a:xfrm>
            <a:off x="4681150" y="1008150"/>
            <a:ext cx="3960300" cy="15636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19"/>
          <p:cNvSpPr/>
          <p:nvPr/>
        </p:nvSpPr>
        <p:spPr>
          <a:xfrm>
            <a:off x="4730750" y="2922750"/>
            <a:ext cx="3960300" cy="1563600"/>
          </a:xfrm>
          <a:prstGeom prst="roundRect">
            <a:avLst>
              <a:gd fmla="val 16667" name="adj"/>
            </a:avLst>
          </a:prstGeom>
          <a:solidFill>
            <a:srgbClr val="F7F7F5"/>
          </a:solidFill>
          <a:ln cap="flat" cmpd="sng" w="38100">
            <a:solidFill>
              <a:srgbClr val="22222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6" name="Google Shape;136;p19"/>
          <p:cNvPicPr preferRelativeResize="0"/>
          <p:nvPr/>
        </p:nvPicPr>
        <p:blipFill>
          <a:blip r:embed="rId3">
            <a:alphaModFix/>
          </a:blip>
          <a:stretch>
            <a:fillRect/>
          </a:stretch>
        </p:blipFill>
        <p:spPr>
          <a:xfrm>
            <a:off x="7700100" y="1913750"/>
            <a:ext cx="836174" cy="557449"/>
          </a:xfrm>
          <a:prstGeom prst="rect">
            <a:avLst/>
          </a:prstGeom>
          <a:solidFill>
            <a:srgbClr val="F7F7F5"/>
          </a:solidFill>
          <a:ln>
            <a:noFill/>
          </a:ln>
        </p:spPr>
      </p:pic>
      <p:sp>
        <p:nvSpPr>
          <p:cNvPr id="137" name="Google Shape;137;p19"/>
          <p:cNvSpPr txBox="1"/>
          <p:nvPr/>
        </p:nvSpPr>
        <p:spPr>
          <a:xfrm>
            <a:off x="668350" y="1008150"/>
            <a:ext cx="339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Courier New"/>
                <a:ea typeface="Courier New"/>
                <a:cs typeface="Courier New"/>
                <a:sym typeface="Courier New"/>
              </a:rPr>
              <a:t>Huge amounts of online data </a:t>
            </a:r>
            <a:endParaRPr b="1">
              <a:latin typeface="Courier New"/>
              <a:ea typeface="Courier New"/>
              <a:cs typeface="Courier New"/>
              <a:sym typeface="Courier New"/>
            </a:endParaRPr>
          </a:p>
        </p:txBody>
      </p:sp>
      <p:sp>
        <p:nvSpPr>
          <p:cNvPr id="138" name="Google Shape;138;p19"/>
          <p:cNvSpPr txBox="1"/>
          <p:nvPr/>
        </p:nvSpPr>
        <p:spPr>
          <a:xfrm>
            <a:off x="4836350" y="1062000"/>
            <a:ext cx="3749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Courier New"/>
                <a:ea typeface="Courier New"/>
                <a:cs typeface="Courier New"/>
                <a:sym typeface="Courier New"/>
              </a:rPr>
              <a:t>Advances in GPU Computing </a:t>
            </a:r>
            <a:endParaRPr b="1">
              <a:latin typeface="Courier New"/>
              <a:ea typeface="Courier New"/>
              <a:cs typeface="Courier New"/>
              <a:sym typeface="Courier New"/>
            </a:endParaRPr>
          </a:p>
        </p:txBody>
      </p:sp>
      <p:sp>
        <p:nvSpPr>
          <p:cNvPr id="139" name="Google Shape;139;p19"/>
          <p:cNvSpPr txBox="1"/>
          <p:nvPr/>
        </p:nvSpPr>
        <p:spPr>
          <a:xfrm>
            <a:off x="668350" y="2945625"/>
            <a:ext cx="33906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Courier New"/>
                <a:ea typeface="Courier New"/>
                <a:cs typeface="Courier New"/>
                <a:sym typeface="Courier New"/>
              </a:rPr>
              <a:t>Model architecture</a:t>
            </a:r>
            <a:endParaRPr b="1">
              <a:latin typeface="Courier New"/>
              <a:ea typeface="Courier New"/>
              <a:cs typeface="Courier New"/>
              <a:sym typeface="Courier New"/>
            </a:endParaRPr>
          </a:p>
        </p:txBody>
      </p:sp>
      <p:sp>
        <p:nvSpPr>
          <p:cNvPr id="140" name="Google Shape;140;p19"/>
          <p:cNvSpPr txBox="1"/>
          <p:nvPr/>
        </p:nvSpPr>
        <p:spPr>
          <a:xfrm>
            <a:off x="4836350" y="2949675"/>
            <a:ext cx="3749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ja">
                <a:latin typeface="Courier New"/>
                <a:ea typeface="Courier New"/>
                <a:cs typeface="Courier New"/>
                <a:sym typeface="Courier New"/>
              </a:rPr>
              <a:t>Accessibility / UX</a:t>
            </a:r>
            <a:endParaRPr b="1">
              <a:latin typeface="Courier New"/>
              <a:ea typeface="Courier New"/>
              <a:cs typeface="Courier New"/>
              <a:sym typeface="Courier New"/>
            </a:endParaRPr>
          </a:p>
        </p:txBody>
      </p:sp>
      <p:pic>
        <p:nvPicPr>
          <p:cNvPr id="141" name="Google Shape;141;p19"/>
          <p:cNvPicPr preferRelativeResize="0"/>
          <p:nvPr/>
        </p:nvPicPr>
        <p:blipFill>
          <a:blip r:embed="rId4">
            <a:alphaModFix/>
          </a:blip>
          <a:stretch>
            <a:fillRect/>
          </a:stretch>
        </p:blipFill>
        <p:spPr>
          <a:xfrm>
            <a:off x="7736800" y="1462212"/>
            <a:ext cx="691249" cy="494850"/>
          </a:xfrm>
          <a:prstGeom prst="rect">
            <a:avLst/>
          </a:prstGeom>
          <a:noFill/>
          <a:ln>
            <a:noFill/>
          </a:ln>
        </p:spPr>
      </p:pic>
      <p:sp>
        <p:nvSpPr>
          <p:cNvPr id="142" name="Google Shape;142;p19"/>
          <p:cNvSpPr txBox="1"/>
          <p:nvPr/>
        </p:nvSpPr>
        <p:spPr>
          <a:xfrm>
            <a:off x="668350" y="1367475"/>
            <a:ext cx="33906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 The spread of the Internet has created massive amounts of human-generated text data in natural language. </a:t>
            </a:r>
            <a:endParaRPr sz="1000">
              <a:latin typeface="Courier New"/>
              <a:ea typeface="Courier New"/>
              <a:cs typeface="Courier New"/>
              <a:sym typeface="Courier New"/>
            </a:endParaRPr>
          </a:p>
          <a:p>
            <a:pPr indent="0" lvl="0" marL="0" rtl="0" algn="l">
              <a:spcBef>
                <a:spcPts val="0"/>
              </a:spcBef>
              <a:spcAft>
                <a:spcPts val="0"/>
              </a:spcAft>
              <a:buNone/>
            </a:pPr>
            <a:r>
              <a:rPr lang="ja" sz="1000">
                <a:latin typeface="Courier New"/>
                <a:ea typeface="Courier New"/>
                <a:cs typeface="Courier New"/>
                <a:sym typeface="Courier New"/>
              </a:rPr>
              <a:t>(e.g., GPT-3 was trained on filtered Common Crawl and other large text corpora [4].) </a:t>
            </a:r>
            <a:endParaRPr sz="1000">
              <a:latin typeface="Courier New"/>
              <a:ea typeface="Courier New"/>
              <a:cs typeface="Courier New"/>
              <a:sym typeface="Courier New"/>
            </a:endParaRPr>
          </a:p>
        </p:txBody>
      </p:sp>
      <p:sp>
        <p:nvSpPr>
          <p:cNvPr id="143" name="Google Shape;143;p19"/>
          <p:cNvSpPr txBox="1"/>
          <p:nvPr/>
        </p:nvSpPr>
        <p:spPr>
          <a:xfrm>
            <a:off x="668350" y="3327225"/>
            <a:ext cx="339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 The Transformer architecture, introduced in 2017, improved how models process relationships between tokens through attention mechanisms. </a:t>
            </a:r>
            <a:endParaRPr sz="1000">
              <a:latin typeface="Courier New"/>
              <a:ea typeface="Courier New"/>
              <a:cs typeface="Courier New"/>
              <a:sym typeface="Courier New"/>
            </a:endParaRPr>
          </a:p>
        </p:txBody>
      </p:sp>
      <p:sp>
        <p:nvSpPr>
          <p:cNvPr id="144" name="Google Shape;144;p19"/>
          <p:cNvSpPr txBox="1"/>
          <p:nvPr/>
        </p:nvSpPr>
        <p:spPr>
          <a:xfrm>
            <a:off x="4966000" y="3327225"/>
            <a:ext cx="33906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 ChatGPT made LLMs accessible to general users through a simple chat interface, which accelerated public interest and adoption. </a:t>
            </a:r>
            <a:endParaRPr sz="1000">
              <a:latin typeface="Courier New"/>
              <a:ea typeface="Courier New"/>
              <a:cs typeface="Courier New"/>
              <a:sym typeface="Courier New"/>
            </a:endParaRPr>
          </a:p>
        </p:txBody>
      </p:sp>
      <p:sp>
        <p:nvSpPr>
          <p:cNvPr id="145" name="Google Shape;145;p19"/>
          <p:cNvSpPr txBox="1"/>
          <p:nvPr/>
        </p:nvSpPr>
        <p:spPr>
          <a:xfrm>
            <a:off x="4966000" y="1462200"/>
            <a:ext cx="2734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000">
                <a:latin typeface="Courier New"/>
                <a:ea typeface="Courier New"/>
                <a:cs typeface="Courier New"/>
                <a:sym typeface="Courier New"/>
              </a:rPr>
              <a:t>Advances in GPUs made large-scale parallel matrix operations practical, enabling the training of LLMs. </a:t>
            </a:r>
            <a:endParaRPr sz="10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49" name="Shape 149"/>
        <p:cNvGrpSpPr/>
        <p:nvPr/>
      </p:nvGrpSpPr>
      <p:grpSpPr>
        <a:xfrm>
          <a:off x="0" y="0"/>
          <a:ext cx="0" cy="0"/>
          <a:chOff x="0" y="0"/>
          <a:chExt cx="0" cy="0"/>
        </a:xfrm>
      </p:grpSpPr>
      <p:sp>
        <p:nvSpPr>
          <p:cNvPr id="150" name="Google Shape;150;p20"/>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0"/>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152" name="Google Shape;152;p20"/>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153" name="Google Shape;153;p20"/>
          <p:cNvSpPr txBox="1"/>
          <p:nvPr/>
        </p:nvSpPr>
        <p:spPr>
          <a:xfrm>
            <a:off x="0" y="260400"/>
            <a:ext cx="637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ja" sz="3000">
                <a:solidFill>
                  <a:srgbClr val="222222"/>
                </a:solidFill>
                <a:latin typeface="Courier New"/>
                <a:ea typeface="Courier New"/>
                <a:cs typeface="Courier New"/>
                <a:sym typeface="Courier New"/>
              </a:rPr>
              <a:t>Core Concept</a:t>
            </a:r>
            <a:r>
              <a:rPr b="1" i="1" lang="ja" sz="3000">
                <a:solidFill>
                  <a:srgbClr val="222222"/>
                </a:solidFill>
                <a:latin typeface="Courier New"/>
                <a:ea typeface="Courier New"/>
                <a:cs typeface="Courier New"/>
                <a:sym typeface="Courier New"/>
              </a:rPr>
              <a:t> </a:t>
            </a:r>
            <a:endParaRPr b="1" i="1" sz="3000">
              <a:solidFill>
                <a:srgbClr val="222222"/>
              </a:solidFill>
              <a:latin typeface="Courier New"/>
              <a:ea typeface="Courier New"/>
              <a:cs typeface="Courier New"/>
              <a:sym typeface="Courier New"/>
            </a:endParaRPr>
          </a:p>
        </p:txBody>
      </p:sp>
      <p:sp>
        <p:nvSpPr>
          <p:cNvPr id="154" name="Google Shape;154;p20"/>
          <p:cNvSpPr txBox="1"/>
          <p:nvPr/>
        </p:nvSpPr>
        <p:spPr>
          <a:xfrm>
            <a:off x="0" y="906900"/>
            <a:ext cx="516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600">
                <a:solidFill>
                  <a:srgbClr val="222222"/>
                </a:solidFill>
                <a:latin typeface="Courier New"/>
                <a:ea typeface="Courier New"/>
                <a:cs typeface="Courier New"/>
                <a:sym typeface="Courier New"/>
              </a:rPr>
              <a:t>1. </a:t>
            </a:r>
            <a:r>
              <a:rPr lang="ja" sz="1600">
                <a:solidFill>
                  <a:srgbClr val="222222"/>
                </a:solidFill>
                <a:latin typeface="Courier New"/>
                <a:ea typeface="Courier New"/>
                <a:cs typeface="Courier New"/>
                <a:sym typeface="Courier New"/>
              </a:rPr>
              <a:t>Tokenizer </a:t>
            </a:r>
            <a:endParaRPr sz="1600">
              <a:solidFill>
                <a:srgbClr val="222222"/>
              </a:solidFill>
              <a:latin typeface="Courier New"/>
              <a:ea typeface="Courier New"/>
              <a:cs typeface="Courier New"/>
              <a:sym typeface="Courier New"/>
            </a:endParaRPr>
          </a:p>
        </p:txBody>
      </p:sp>
      <p:sp>
        <p:nvSpPr>
          <p:cNvPr id="155" name="Google Shape;155;p20"/>
          <p:cNvSpPr txBox="1"/>
          <p:nvPr/>
        </p:nvSpPr>
        <p:spPr>
          <a:xfrm>
            <a:off x="330000" y="1304275"/>
            <a:ext cx="5715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300"/>
              </a:spcAft>
              <a:buNone/>
            </a:pPr>
            <a:r>
              <a:rPr lang="ja" sz="1200">
                <a:latin typeface="Courier New"/>
                <a:ea typeface="Courier New"/>
                <a:cs typeface="Courier New"/>
                <a:sym typeface="Courier New"/>
              </a:rPr>
              <a:t>Deconstructs prompt into segments (tokens) based on model-specific rules.</a:t>
            </a:r>
            <a:endParaRPr sz="1200"/>
          </a:p>
        </p:txBody>
      </p:sp>
      <p:sp>
        <p:nvSpPr>
          <p:cNvPr id="156" name="Google Shape;156;p20"/>
          <p:cNvSpPr txBox="1"/>
          <p:nvPr/>
        </p:nvSpPr>
        <p:spPr>
          <a:xfrm>
            <a:off x="0" y="1882850"/>
            <a:ext cx="516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600">
                <a:solidFill>
                  <a:srgbClr val="222222"/>
                </a:solidFill>
                <a:latin typeface="Courier New"/>
                <a:ea typeface="Courier New"/>
                <a:cs typeface="Courier New"/>
                <a:sym typeface="Courier New"/>
              </a:rPr>
              <a:t>2</a:t>
            </a:r>
            <a:r>
              <a:rPr lang="ja" sz="1600">
                <a:solidFill>
                  <a:srgbClr val="222222"/>
                </a:solidFill>
                <a:latin typeface="Courier New"/>
                <a:ea typeface="Courier New"/>
                <a:cs typeface="Courier New"/>
                <a:sym typeface="Courier New"/>
              </a:rPr>
              <a:t>. </a:t>
            </a:r>
            <a:r>
              <a:rPr lang="ja" sz="1600">
                <a:solidFill>
                  <a:srgbClr val="222222"/>
                </a:solidFill>
                <a:latin typeface="Courier New"/>
                <a:ea typeface="Courier New"/>
                <a:cs typeface="Courier New"/>
                <a:sym typeface="Courier New"/>
              </a:rPr>
              <a:t>Transformer Architecture</a:t>
            </a:r>
            <a:endParaRPr sz="1600">
              <a:solidFill>
                <a:srgbClr val="222222"/>
              </a:solidFill>
              <a:latin typeface="Courier New"/>
              <a:ea typeface="Courier New"/>
              <a:cs typeface="Courier New"/>
              <a:sym typeface="Courier New"/>
            </a:endParaRPr>
          </a:p>
        </p:txBody>
      </p:sp>
      <p:sp>
        <p:nvSpPr>
          <p:cNvPr id="157" name="Google Shape;157;p20"/>
          <p:cNvSpPr txBox="1"/>
          <p:nvPr/>
        </p:nvSpPr>
        <p:spPr>
          <a:xfrm>
            <a:off x="330000" y="2338425"/>
            <a:ext cx="5715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300"/>
              </a:spcAft>
              <a:buNone/>
            </a:pPr>
            <a:r>
              <a:rPr lang="ja" sz="1200">
                <a:latin typeface="Courier New"/>
                <a:ea typeface="Courier New"/>
                <a:cs typeface="Courier New"/>
                <a:sym typeface="Courier New"/>
              </a:rPr>
              <a:t>Utilizes the </a:t>
            </a:r>
            <a:r>
              <a:rPr b="1" lang="ja" sz="1200">
                <a:latin typeface="Courier New"/>
                <a:ea typeface="Courier New"/>
                <a:cs typeface="Courier New"/>
                <a:sym typeface="Courier New"/>
              </a:rPr>
              <a:t>Attention Mechanism</a:t>
            </a:r>
            <a:r>
              <a:rPr lang="ja" sz="1200">
                <a:latin typeface="Courier New"/>
                <a:ea typeface="Courier New"/>
                <a:cs typeface="Courier New"/>
                <a:sym typeface="Courier New"/>
              </a:rPr>
              <a:t> to weigh relationships between tokens.</a:t>
            </a:r>
            <a:endParaRPr sz="1200"/>
          </a:p>
        </p:txBody>
      </p:sp>
      <p:sp>
        <p:nvSpPr>
          <p:cNvPr id="158" name="Google Shape;158;p20"/>
          <p:cNvSpPr txBox="1"/>
          <p:nvPr/>
        </p:nvSpPr>
        <p:spPr>
          <a:xfrm>
            <a:off x="0" y="2917000"/>
            <a:ext cx="516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600">
                <a:solidFill>
                  <a:srgbClr val="222222"/>
                </a:solidFill>
                <a:latin typeface="Courier New"/>
                <a:ea typeface="Courier New"/>
                <a:cs typeface="Courier New"/>
                <a:sym typeface="Courier New"/>
              </a:rPr>
              <a:t>3</a:t>
            </a:r>
            <a:r>
              <a:rPr lang="ja" sz="1600">
                <a:solidFill>
                  <a:srgbClr val="222222"/>
                </a:solidFill>
                <a:latin typeface="Courier New"/>
                <a:ea typeface="Courier New"/>
                <a:cs typeface="Courier New"/>
                <a:sym typeface="Courier New"/>
              </a:rPr>
              <a:t>. </a:t>
            </a:r>
            <a:r>
              <a:rPr lang="ja" sz="1600">
                <a:solidFill>
                  <a:srgbClr val="222222"/>
                </a:solidFill>
                <a:latin typeface="Courier New"/>
                <a:ea typeface="Courier New"/>
                <a:cs typeface="Courier New"/>
                <a:sym typeface="Courier New"/>
              </a:rPr>
              <a:t>Language modeling head</a:t>
            </a:r>
            <a:endParaRPr sz="1600">
              <a:solidFill>
                <a:srgbClr val="222222"/>
              </a:solidFill>
              <a:latin typeface="Courier New"/>
              <a:ea typeface="Courier New"/>
              <a:cs typeface="Courier New"/>
              <a:sym typeface="Courier New"/>
            </a:endParaRPr>
          </a:p>
        </p:txBody>
      </p:sp>
      <p:sp>
        <p:nvSpPr>
          <p:cNvPr id="159" name="Google Shape;159;p20"/>
          <p:cNvSpPr txBox="1"/>
          <p:nvPr/>
        </p:nvSpPr>
        <p:spPr>
          <a:xfrm>
            <a:off x="330000" y="3372575"/>
            <a:ext cx="5715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300"/>
              </a:spcAft>
              <a:buNone/>
            </a:pPr>
            <a:r>
              <a:rPr b="1" lang="ja" sz="1200">
                <a:latin typeface="Courier New"/>
                <a:ea typeface="Courier New"/>
                <a:cs typeface="Courier New"/>
                <a:sym typeface="Courier New"/>
              </a:rPr>
              <a:t>Predicts</a:t>
            </a:r>
            <a:r>
              <a:rPr lang="ja" sz="1200">
                <a:latin typeface="Courier New"/>
                <a:ea typeface="Courier New"/>
                <a:cs typeface="Courier New"/>
                <a:sym typeface="Courier New"/>
              </a:rPr>
              <a:t> the next token based on the probability distribution learned by the model.</a:t>
            </a:r>
            <a:endParaRPr sz="1200"/>
          </a:p>
        </p:txBody>
      </p:sp>
      <p:sp>
        <p:nvSpPr>
          <p:cNvPr id="160" name="Google Shape;160;p20"/>
          <p:cNvSpPr txBox="1"/>
          <p:nvPr/>
        </p:nvSpPr>
        <p:spPr>
          <a:xfrm>
            <a:off x="0" y="3892950"/>
            <a:ext cx="5169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600">
                <a:solidFill>
                  <a:srgbClr val="222222"/>
                </a:solidFill>
                <a:latin typeface="Courier New"/>
                <a:ea typeface="Courier New"/>
                <a:cs typeface="Courier New"/>
                <a:sym typeface="Courier New"/>
              </a:rPr>
              <a:t>4. </a:t>
            </a:r>
            <a:r>
              <a:rPr lang="ja" sz="1600">
                <a:solidFill>
                  <a:srgbClr val="222222"/>
                </a:solidFill>
                <a:latin typeface="Courier New"/>
                <a:ea typeface="Courier New"/>
                <a:cs typeface="Courier New"/>
                <a:sym typeface="Courier New"/>
              </a:rPr>
              <a:t>Repeated Generation</a:t>
            </a:r>
            <a:endParaRPr sz="1600">
              <a:solidFill>
                <a:srgbClr val="222222"/>
              </a:solidFill>
              <a:latin typeface="Courier New"/>
              <a:ea typeface="Courier New"/>
              <a:cs typeface="Courier New"/>
              <a:sym typeface="Courier New"/>
            </a:endParaRPr>
          </a:p>
        </p:txBody>
      </p:sp>
      <p:sp>
        <p:nvSpPr>
          <p:cNvPr id="161" name="Google Shape;161;p20"/>
          <p:cNvSpPr txBox="1"/>
          <p:nvPr/>
        </p:nvSpPr>
        <p:spPr>
          <a:xfrm>
            <a:off x="330000" y="4324050"/>
            <a:ext cx="5715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300"/>
              </a:spcAft>
              <a:buNone/>
            </a:pPr>
            <a:r>
              <a:rPr lang="ja" sz="1200">
                <a:latin typeface="Courier New"/>
                <a:ea typeface="Courier New"/>
                <a:cs typeface="Courier New"/>
                <a:sym typeface="Courier New"/>
              </a:rPr>
              <a:t>Repeat the above workflow until an </a:t>
            </a:r>
            <a:r>
              <a:rPr b="1" lang="ja" sz="1200">
                <a:latin typeface="Courier New"/>
                <a:ea typeface="Courier New"/>
                <a:cs typeface="Courier New"/>
                <a:sym typeface="Courier New"/>
              </a:rPr>
              <a:t>EOS(End of Sequence) token</a:t>
            </a:r>
            <a:r>
              <a:rPr lang="ja" sz="1200">
                <a:latin typeface="Courier New"/>
                <a:ea typeface="Courier New"/>
                <a:cs typeface="Courier New"/>
                <a:sym typeface="Courier New"/>
              </a:rPr>
              <a:t> is generated.</a:t>
            </a:r>
            <a:endParaRPr sz="1200"/>
          </a:p>
        </p:txBody>
      </p:sp>
      <p:sp>
        <p:nvSpPr>
          <p:cNvPr id="162" name="Google Shape;162;p20"/>
          <p:cNvSpPr txBox="1"/>
          <p:nvPr/>
        </p:nvSpPr>
        <p:spPr>
          <a:xfrm>
            <a:off x="6045000" y="448650"/>
            <a:ext cx="3118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200">
                <a:solidFill>
                  <a:schemeClr val="dk2"/>
                </a:solidFill>
                <a:latin typeface="Courier New"/>
                <a:ea typeface="Courier New"/>
                <a:cs typeface="Courier New"/>
                <a:sym typeface="Courier New"/>
              </a:rPr>
              <a:t>Attention is all you need!</a:t>
            </a:r>
            <a:endParaRPr b="1" sz="1200">
              <a:solidFill>
                <a:schemeClr val="dk2"/>
              </a:solidFill>
              <a:latin typeface="Courier New"/>
              <a:ea typeface="Courier New"/>
              <a:cs typeface="Courier New"/>
              <a:sym typeface="Courier New"/>
            </a:endParaRPr>
          </a:p>
        </p:txBody>
      </p:sp>
      <p:pic>
        <p:nvPicPr>
          <p:cNvPr id="163" name="Google Shape;163;p20"/>
          <p:cNvPicPr preferRelativeResize="0"/>
          <p:nvPr/>
        </p:nvPicPr>
        <p:blipFill>
          <a:blip r:embed="rId3">
            <a:alphaModFix/>
          </a:blip>
          <a:stretch>
            <a:fillRect/>
          </a:stretch>
        </p:blipFill>
        <p:spPr>
          <a:xfrm>
            <a:off x="7538575" y="817950"/>
            <a:ext cx="179425" cy="509125"/>
          </a:xfrm>
          <a:prstGeom prst="rect">
            <a:avLst/>
          </a:prstGeom>
          <a:noFill/>
          <a:ln>
            <a:noFill/>
          </a:ln>
        </p:spPr>
      </p:pic>
      <p:sp>
        <p:nvSpPr>
          <p:cNvPr id="164" name="Google Shape;164;p20"/>
          <p:cNvSpPr txBox="1"/>
          <p:nvPr/>
        </p:nvSpPr>
        <p:spPr>
          <a:xfrm>
            <a:off x="6044988" y="1386038"/>
            <a:ext cx="3118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200">
                <a:solidFill>
                  <a:schemeClr val="dk2"/>
                </a:solidFill>
                <a:latin typeface="Courier New"/>
                <a:ea typeface="Courier New"/>
                <a:cs typeface="Courier New"/>
                <a:sym typeface="Courier New"/>
              </a:rPr>
              <a:t>["Attention", "is", "all", "you", "need", "!"] </a:t>
            </a:r>
            <a:endParaRPr b="1" sz="1200">
              <a:solidFill>
                <a:schemeClr val="dk2"/>
              </a:solidFill>
              <a:latin typeface="Courier New"/>
              <a:ea typeface="Courier New"/>
              <a:cs typeface="Courier New"/>
              <a:sym typeface="Courier New"/>
            </a:endParaRPr>
          </a:p>
        </p:txBody>
      </p:sp>
      <p:pic>
        <p:nvPicPr>
          <p:cNvPr id="165" name="Google Shape;165;p20"/>
          <p:cNvPicPr preferRelativeResize="0"/>
          <p:nvPr/>
        </p:nvPicPr>
        <p:blipFill>
          <a:blip r:embed="rId4">
            <a:alphaModFix/>
          </a:blip>
          <a:stretch>
            <a:fillRect/>
          </a:stretch>
        </p:blipFill>
        <p:spPr>
          <a:xfrm>
            <a:off x="7196422" y="2403550"/>
            <a:ext cx="815350" cy="815350"/>
          </a:xfrm>
          <a:prstGeom prst="rect">
            <a:avLst/>
          </a:prstGeom>
          <a:noFill/>
          <a:ln>
            <a:noFill/>
          </a:ln>
        </p:spPr>
      </p:pic>
      <p:pic>
        <p:nvPicPr>
          <p:cNvPr id="166" name="Google Shape;166;p20"/>
          <p:cNvPicPr preferRelativeResize="0"/>
          <p:nvPr/>
        </p:nvPicPr>
        <p:blipFill>
          <a:blip r:embed="rId3">
            <a:alphaModFix/>
          </a:blip>
          <a:stretch>
            <a:fillRect/>
          </a:stretch>
        </p:blipFill>
        <p:spPr>
          <a:xfrm>
            <a:off x="7514362" y="1836100"/>
            <a:ext cx="179425" cy="509125"/>
          </a:xfrm>
          <a:prstGeom prst="rect">
            <a:avLst/>
          </a:prstGeom>
          <a:noFill/>
          <a:ln>
            <a:noFill/>
          </a:ln>
        </p:spPr>
      </p:pic>
      <p:pic>
        <p:nvPicPr>
          <p:cNvPr id="167" name="Google Shape;167;p20"/>
          <p:cNvPicPr preferRelativeResize="0"/>
          <p:nvPr/>
        </p:nvPicPr>
        <p:blipFill>
          <a:blip r:embed="rId3">
            <a:alphaModFix/>
          </a:blip>
          <a:stretch>
            <a:fillRect/>
          </a:stretch>
        </p:blipFill>
        <p:spPr>
          <a:xfrm>
            <a:off x="7514362" y="3246337"/>
            <a:ext cx="179425" cy="509125"/>
          </a:xfrm>
          <a:prstGeom prst="rect">
            <a:avLst/>
          </a:prstGeom>
          <a:noFill/>
          <a:ln>
            <a:noFill/>
          </a:ln>
        </p:spPr>
      </p:pic>
      <p:pic>
        <p:nvPicPr>
          <p:cNvPr id="168" name="Google Shape;168;p20"/>
          <p:cNvPicPr preferRelativeResize="0"/>
          <p:nvPr/>
        </p:nvPicPr>
        <p:blipFill>
          <a:blip r:embed="rId5">
            <a:alphaModFix/>
          </a:blip>
          <a:stretch>
            <a:fillRect/>
          </a:stretch>
        </p:blipFill>
        <p:spPr>
          <a:xfrm>
            <a:off x="6570125" y="3682308"/>
            <a:ext cx="815350" cy="966794"/>
          </a:xfrm>
          <a:prstGeom prst="rect">
            <a:avLst/>
          </a:prstGeom>
          <a:noFill/>
          <a:ln>
            <a:noFill/>
          </a:ln>
        </p:spPr>
      </p:pic>
      <p:sp>
        <p:nvSpPr>
          <p:cNvPr id="169" name="Google Shape;169;p20"/>
          <p:cNvSpPr txBox="1"/>
          <p:nvPr/>
        </p:nvSpPr>
        <p:spPr>
          <a:xfrm>
            <a:off x="7385468" y="3998488"/>
            <a:ext cx="1235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200">
                <a:solidFill>
                  <a:schemeClr val="dk2"/>
                </a:solidFill>
                <a:latin typeface="Courier New"/>
                <a:ea typeface="Courier New"/>
                <a:cs typeface="Courier New"/>
                <a:sym typeface="Courier New"/>
              </a:rPr>
              <a:t>and Repeat!</a:t>
            </a:r>
            <a:endParaRPr b="1" sz="1200">
              <a:solidFill>
                <a:schemeClr val="dk2"/>
              </a:solidFill>
              <a:latin typeface="Courier New"/>
              <a:ea typeface="Courier New"/>
              <a:cs typeface="Courier New"/>
              <a:sym typeface="Courier New"/>
            </a:endParaRPr>
          </a:p>
        </p:txBody>
      </p:sp>
      <p:sp>
        <p:nvSpPr>
          <p:cNvPr id="170" name="Google Shape;170;p20"/>
          <p:cNvSpPr txBox="1"/>
          <p:nvPr/>
        </p:nvSpPr>
        <p:spPr>
          <a:xfrm>
            <a:off x="6044993" y="2534163"/>
            <a:ext cx="12357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ja" sz="1200">
                <a:solidFill>
                  <a:schemeClr val="dk2"/>
                </a:solidFill>
                <a:latin typeface="Courier New"/>
                <a:ea typeface="Courier New"/>
                <a:cs typeface="Courier New"/>
                <a:sym typeface="Courier New"/>
              </a:rPr>
              <a:t>Check Attention!</a:t>
            </a:r>
            <a:endParaRPr b="1" sz="1200">
              <a:solidFill>
                <a:schemeClr val="dk2"/>
              </a:solidFill>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7F5"/>
        </a:solidFill>
      </p:bgPr>
    </p:bg>
    <p:spTree>
      <p:nvGrpSpPr>
        <p:cNvPr id="174" name="Shape 174"/>
        <p:cNvGrpSpPr/>
        <p:nvPr/>
      </p:nvGrpSpPr>
      <p:grpSpPr>
        <a:xfrm>
          <a:off x="0" y="0"/>
          <a:ext cx="0" cy="0"/>
          <a:chOff x="0" y="0"/>
          <a:chExt cx="0" cy="0"/>
        </a:xfrm>
      </p:grpSpPr>
      <p:sp>
        <p:nvSpPr>
          <p:cNvPr id="175" name="Google Shape;175;p21"/>
          <p:cNvSpPr/>
          <p:nvPr/>
        </p:nvSpPr>
        <p:spPr>
          <a:xfrm>
            <a:off x="0" y="488310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6" name="Google Shape;176;p21"/>
          <p:cNvSpPr/>
          <p:nvPr/>
        </p:nvSpPr>
        <p:spPr>
          <a:xfrm>
            <a:off x="0" y="0"/>
            <a:ext cx="9144000" cy="260400"/>
          </a:xfrm>
          <a:prstGeom prst="rect">
            <a:avLst/>
          </a:prstGeom>
          <a:solidFill>
            <a:srgbClr val="22222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2222CC"/>
              </a:solidFill>
            </a:endParaRPr>
          </a:p>
        </p:txBody>
      </p:sp>
      <p:sp>
        <p:nvSpPr>
          <p:cNvPr id="177" name="Google Shape;177;p21"/>
          <p:cNvSpPr txBox="1"/>
          <p:nvPr>
            <p:ph idx="1" type="subTitle"/>
          </p:nvPr>
        </p:nvSpPr>
        <p:spPr>
          <a:xfrm>
            <a:off x="5252000" y="4837350"/>
            <a:ext cx="3960300" cy="35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ja" sz="1200">
                <a:solidFill>
                  <a:srgbClr val="F7F7F5"/>
                </a:solidFill>
                <a:latin typeface="Courier New"/>
                <a:ea typeface="Courier New"/>
                <a:cs typeface="Courier New"/>
                <a:sym typeface="Courier New"/>
              </a:rPr>
              <a:t>2026/5/8 Motohisa Yamano s1320112</a:t>
            </a:r>
            <a:endParaRPr sz="1200">
              <a:solidFill>
                <a:srgbClr val="F7F7F5"/>
              </a:solidFill>
              <a:latin typeface="Courier New"/>
              <a:ea typeface="Courier New"/>
              <a:cs typeface="Courier New"/>
              <a:sym typeface="Courier New"/>
            </a:endParaRPr>
          </a:p>
        </p:txBody>
      </p:sp>
      <p:sp>
        <p:nvSpPr>
          <p:cNvPr id="178" name="Google Shape;178;p21"/>
          <p:cNvSpPr txBox="1"/>
          <p:nvPr/>
        </p:nvSpPr>
        <p:spPr>
          <a:xfrm>
            <a:off x="0" y="260400"/>
            <a:ext cx="63750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ja" sz="3000">
                <a:solidFill>
                  <a:srgbClr val="222222"/>
                </a:solidFill>
                <a:latin typeface="Courier New"/>
                <a:ea typeface="Courier New"/>
                <a:cs typeface="Courier New"/>
                <a:sym typeface="Courier New"/>
              </a:rPr>
              <a:t>Reference</a:t>
            </a:r>
            <a:endParaRPr b="1" i="1" sz="3000">
              <a:solidFill>
                <a:srgbClr val="222222"/>
              </a:solidFill>
              <a:latin typeface="Courier New"/>
              <a:ea typeface="Courier New"/>
              <a:cs typeface="Courier New"/>
              <a:sym typeface="Courier New"/>
            </a:endParaRPr>
          </a:p>
        </p:txBody>
      </p:sp>
      <p:sp>
        <p:nvSpPr>
          <p:cNvPr id="179" name="Google Shape;179;p21"/>
          <p:cNvSpPr txBox="1"/>
          <p:nvPr/>
        </p:nvSpPr>
        <p:spPr>
          <a:xfrm>
            <a:off x="994050" y="854825"/>
            <a:ext cx="7155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[1] Zhao, W. X., Zhou, K., Li, J., Tang, T., Wang, X., Hou, Y., ... &amp; Wen, J. R. (2023). A survey of large language models. </a:t>
            </a:r>
            <a:r>
              <a:rPr i="1" lang="ja" sz="1200">
                <a:latin typeface="Courier New"/>
                <a:ea typeface="Courier New"/>
                <a:cs typeface="Courier New"/>
                <a:sym typeface="Courier New"/>
              </a:rPr>
              <a:t>arXiv preprint arXiv:2303.18223</a:t>
            </a:r>
            <a:r>
              <a:rPr lang="ja" sz="1200">
                <a:latin typeface="Courier New"/>
                <a:ea typeface="Courier New"/>
                <a:cs typeface="Courier New"/>
                <a:sym typeface="Courier New"/>
              </a:rPr>
              <a:t>, </a:t>
            </a:r>
            <a:r>
              <a:rPr i="1" lang="ja" sz="1200">
                <a:latin typeface="Courier New"/>
                <a:ea typeface="Courier New"/>
                <a:cs typeface="Courier New"/>
                <a:sym typeface="Courier New"/>
              </a:rPr>
              <a:t>1</a:t>
            </a:r>
            <a:r>
              <a:rPr lang="ja" sz="1200">
                <a:latin typeface="Courier New"/>
                <a:ea typeface="Courier New"/>
                <a:cs typeface="Courier New"/>
                <a:sym typeface="Courier New"/>
              </a:rPr>
              <a:t>(2), 1-124. </a:t>
            </a:r>
            <a:endParaRPr sz="1200">
              <a:latin typeface="Courier New"/>
              <a:ea typeface="Courier New"/>
              <a:cs typeface="Courier New"/>
              <a:sym typeface="Courier New"/>
            </a:endParaRPr>
          </a:p>
        </p:txBody>
      </p:sp>
      <p:sp>
        <p:nvSpPr>
          <p:cNvPr id="180" name="Google Shape;180;p21"/>
          <p:cNvSpPr txBox="1"/>
          <p:nvPr/>
        </p:nvSpPr>
        <p:spPr>
          <a:xfrm>
            <a:off x="994050" y="1593725"/>
            <a:ext cx="7155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[2</a:t>
            </a:r>
            <a:r>
              <a:rPr lang="ja" sz="1200">
                <a:latin typeface="Courier New"/>
                <a:ea typeface="Courier New"/>
                <a:cs typeface="Courier New"/>
                <a:sym typeface="Courier New"/>
              </a:rPr>
              <a:t>] Kaplan, J., McCandlish, S., Henighan, T., Brown, T. B., Chess, B., Child, R., ... &amp; Amodei, D. (2020). Scaling laws for neural language models. </a:t>
            </a:r>
            <a:r>
              <a:rPr i="1" lang="ja" sz="1200">
                <a:latin typeface="Courier New"/>
                <a:ea typeface="Courier New"/>
                <a:cs typeface="Courier New"/>
                <a:sym typeface="Courier New"/>
              </a:rPr>
              <a:t>arXiv preprint arXiv:2001.08361</a:t>
            </a:r>
            <a:r>
              <a:rPr lang="ja" sz="1200">
                <a:latin typeface="Courier New"/>
                <a:ea typeface="Courier New"/>
                <a:cs typeface="Courier New"/>
                <a:sym typeface="Courier New"/>
              </a:rPr>
              <a:t>. </a:t>
            </a:r>
            <a:endParaRPr sz="1200">
              <a:latin typeface="Courier New"/>
              <a:ea typeface="Courier New"/>
              <a:cs typeface="Courier New"/>
              <a:sym typeface="Courier New"/>
            </a:endParaRPr>
          </a:p>
        </p:txBody>
      </p:sp>
      <p:sp>
        <p:nvSpPr>
          <p:cNvPr id="181" name="Google Shape;181;p21"/>
          <p:cNvSpPr txBox="1"/>
          <p:nvPr/>
        </p:nvSpPr>
        <p:spPr>
          <a:xfrm>
            <a:off x="994050" y="2332625"/>
            <a:ext cx="7155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[3] </a:t>
            </a:r>
            <a:r>
              <a:rPr lang="ja" sz="1200">
                <a:solidFill>
                  <a:srgbClr val="222222"/>
                </a:solidFill>
                <a:highlight>
                  <a:srgbClr val="FFFFFF"/>
                </a:highlight>
                <a:latin typeface="Courier New"/>
                <a:ea typeface="Courier New"/>
                <a:cs typeface="Courier New"/>
                <a:sym typeface="Courier New"/>
              </a:rPr>
              <a:t>Alammar, J., &amp; Grootendorst, M. (2024). </a:t>
            </a:r>
            <a:r>
              <a:rPr i="1" lang="ja" sz="1200">
                <a:solidFill>
                  <a:srgbClr val="222222"/>
                </a:solidFill>
                <a:highlight>
                  <a:srgbClr val="FFFFFF"/>
                </a:highlight>
                <a:latin typeface="Courier New"/>
                <a:ea typeface="Courier New"/>
                <a:cs typeface="Courier New"/>
                <a:sym typeface="Courier New"/>
              </a:rPr>
              <a:t>Hands-on large language models: language understanding and generation</a:t>
            </a:r>
            <a:r>
              <a:rPr lang="ja" sz="1200">
                <a:solidFill>
                  <a:srgbClr val="222222"/>
                </a:solidFill>
                <a:highlight>
                  <a:srgbClr val="FFFFFF"/>
                </a:highlight>
                <a:latin typeface="Courier New"/>
                <a:ea typeface="Courier New"/>
                <a:cs typeface="Courier New"/>
                <a:sym typeface="Courier New"/>
              </a:rPr>
              <a:t>. " O'Reilly Media, Inc.".</a:t>
            </a:r>
            <a:r>
              <a:rPr lang="ja" sz="1200">
                <a:solidFill>
                  <a:schemeClr val="dk1"/>
                </a:solidFill>
                <a:latin typeface="Courier New"/>
                <a:ea typeface="Courier New"/>
                <a:cs typeface="Courier New"/>
                <a:sym typeface="Courier New"/>
              </a:rPr>
              <a:t> </a:t>
            </a:r>
            <a:endParaRPr sz="1200">
              <a:latin typeface="Courier New"/>
              <a:ea typeface="Courier New"/>
              <a:cs typeface="Courier New"/>
              <a:sym typeface="Courier New"/>
            </a:endParaRPr>
          </a:p>
        </p:txBody>
      </p:sp>
      <p:sp>
        <p:nvSpPr>
          <p:cNvPr id="182" name="Google Shape;182;p21"/>
          <p:cNvSpPr txBox="1"/>
          <p:nvPr/>
        </p:nvSpPr>
        <p:spPr>
          <a:xfrm>
            <a:off x="994050" y="2886725"/>
            <a:ext cx="7155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ja" sz="1200">
                <a:latin typeface="Courier New"/>
                <a:ea typeface="Courier New"/>
                <a:cs typeface="Courier New"/>
                <a:sym typeface="Courier New"/>
              </a:rPr>
              <a:t>[4] </a:t>
            </a:r>
            <a:r>
              <a:rPr lang="ja" sz="1200">
                <a:solidFill>
                  <a:srgbClr val="222222"/>
                </a:solidFill>
                <a:highlight>
                  <a:srgbClr val="FFFFFF"/>
                </a:highlight>
                <a:latin typeface="Courier New"/>
                <a:ea typeface="Courier New"/>
                <a:cs typeface="Courier New"/>
                <a:sym typeface="Courier New"/>
              </a:rPr>
              <a:t>Brown, T., Mann, B., Ryder, N., Subbiah, M., Kaplan, J. D., Dhariwal, P., ... &amp; Amodei, D. (2020). Language models are few-shot learners. </a:t>
            </a:r>
            <a:r>
              <a:rPr i="1" lang="ja" sz="1200">
                <a:solidFill>
                  <a:srgbClr val="222222"/>
                </a:solidFill>
                <a:highlight>
                  <a:srgbClr val="FFFFFF"/>
                </a:highlight>
                <a:latin typeface="Courier New"/>
                <a:ea typeface="Courier New"/>
                <a:cs typeface="Courier New"/>
                <a:sym typeface="Courier New"/>
              </a:rPr>
              <a:t>Advances in neural information processing systems</a:t>
            </a:r>
            <a:r>
              <a:rPr lang="ja" sz="1200">
                <a:solidFill>
                  <a:srgbClr val="222222"/>
                </a:solidFill>
                <a:highlight>
                  <a:srgbClr val="FFFFFF"/>
                </a:highlight>
                <a:latin typeface="Courier New"/>
                <a:ea typeface="Courier New"/>
                <a:cs typeface="Courier New"/>
                <a:sym typeface="Courier New"/>
              </a:rPr>
              <a:t>, </a:t>
            </a:r>
            <a:r>
              <a:rPr i="1" lang="ja" sz="1200">
                <a:solidFill>
                  <a:srgbClr val="222222"/>
                </a:solidFill>
                <a:highlight>
                  <a:srgbClr val="FFFFFF"/>
                </a:highlight>
                <a:latin typeface="Courier New"/>
                <a:ea typeface="Courier New"/>
                <a:cs typeface="Courier New"/>
                <a:sym typeface="Courier New"/>
              </a:rPr>
              <a:t>33</a:t>
            </a:r>
            <a:r>
              <a:rPr lang="ja" sz="1200">
                <a:solidFill>
                  <a:srgbClr val="222222"/>
                </a:solidFill>
                <a:highlight>
                  <a:srgbClr val="FFFFFF"/>
                </a:highlight>
                <a:latin typeface="Courier New"/>
                <a:ea typeface="Courier New"/>
                <a:cs typeface="Courier New"/>
                <a:sym typeface="Courier New"/>
              </a:rPr>
              <a:t>, 1877-1901.</a:t>
            </a:r>
            <a:r>
              <a:rPr lang="ja" sz="1200">
                <a:solidFill>
                  <a:schemeClr val="dk1"/>
                </a:solidFill>
                <a:latin typeface="Courier New"/>
                <a:ea typeface="Courier New"/>
                <a:cs typeface="Courier New"/>
                <a:sym typeface="Courier New"/>
              </a:rPr>
              <a:t> </a:t>
            </a:r>
            <a:endParaRPr sz="1200">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